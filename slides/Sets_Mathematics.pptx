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D28D9">
              <a:alpha val="3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4864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COMPUTATIONAL MATHEMATICS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DD6FE"/>
                </a:solidFill>
              </a:rPr>
              <a:t>From foundations to operations — a complete visual guide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A78BFA"/>
                </a:solidFill>
              </a:rPr>
              <a:t>{ } ∪ ∩ ⊆ ∅ 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Lecture Series  •  Beginner to Advanced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4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of a 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" y="27432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</a:rPr>
              <a:t>🌟 DID YOU KNOW?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32004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Georg Cantor invented Set Theory in 1874. He was so far ahead of his time that other mathematicians called his ideas 'a disease'!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274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Set?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5669280" cy="91440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1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set is a well-defined collection of distinct objects, called elements or members, enclosed in curly brackets { 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Examples: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566928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468880"/>
            <a:ext cx="10972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254203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Numbers: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542032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4, 5}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218688"/>
            <a:ext cx="5669280" cy="65836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218688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329184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Letters: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{a, e, i, o, u}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968496"/>
            <a:ext cx="566928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968496"/>
            <a:ext cx="10972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404164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Shapes: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404164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{circle, square, triangle}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4114800" cy="4114800"/>
          </a:xfrm>
          <a:prstGeom prst="ellipse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  Set Notation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22860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0" cy="13716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📋  Roster Form (List form)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elements explicitly: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4, 5}   B = {a, b, c}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1508760"/>
          </a:xfrm>
          <a:prstGeom prst="rect">
            <a:avLst/>
          </a:prstGeom>
          <a:solidFill>
            <a:srgbClr val="6D28D9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786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🔧  Set Builder Form (Rule form)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{x | x is an even number}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as: 'A is the set of all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such that x is an even number'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Key Symbols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50017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6FE"/>
                </a:solidFill>
              </a:rPr>
              <a:t>is an element of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45720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572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50017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6FE"/>
                </a:solidFill>
              </a:rPr>
              <a:t>is NOT an element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45720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572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 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54680" y="50017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6FE"/>
                </a:solidFill>
              </a:rPr>
              <a:t>set notation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45720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572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50017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6FE"/>
                </a:solidFill>
              </a:rPr>
              <a:t>'such that'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Types of 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14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Finite 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44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Has a definite/limited number of elements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874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4, 5}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elements — countable!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00584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914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Infinite 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444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Has unlimited number of elements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1874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{1, 2, 3, 4, ...}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Goes on forever!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14400"/>
            <a:ext cx="274320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00584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9144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Empty 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1444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Denoted by ∅ or { } — zero elements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18745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Ø = { } or 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set with NO elements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27432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788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Singleton Set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" y="33192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set containing exactly one element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37490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{5} or S = {cat}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ONE element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7889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788920"/>
            <a:ext cx="2743200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288036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2788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Equal Sets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55848" y="33192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Sets with exactly the same elements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55848" y="37490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{1,2,3} = B = {3,1,2}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elements, any order!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7889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788920"/>
            <a:ext cx="2743200" cy="4754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2880360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788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Equivalent Sets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81928" y="33192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Same number of elements (same cardinality)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81928" y="37490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A={1,2,3}, B={a,b,c}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n(A) = n(B) = 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  Subsets &amp; Supersets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4114800" cy="38404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1371600"/>
            <a:ext cx="2834640" cy="256032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828800"/>
            <a:ext cx="1737360" cy="1645920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463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920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{1,2,3}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4924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{1,2,3,4,5}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914400"/>
            <a:ext cx="4206240" cy="114300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914400"/>
            <a:ext cx="91440" cy="1143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960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⊆ 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Every element of A is also in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{1,2,3} ⊆ {1,2,3,4,5} 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4206240" cy="11430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4028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⊂ 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Proper Subset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2788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A ⊆ B but A ≠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A has fewer elements than 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206240" cy="11430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66160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11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⊇ 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Superset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B contains all elements of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{1,2,3,4,5} ⊇ {1,2,3} 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4206240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💡  Every set is a subset of itself!  ∅ is a subset of every set!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 Venn Diagrams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 visual way to show sets and their relationships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1B4B"/>
                </a:solidFill>
              </a:rPr>
              <a:t>U  (Universal Set)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3200400" cy="2834640"/>
          </a:xfrm>
          <a:prstGeom prst="ellipse">
            <a:avLst/>
          </a:prstGeom>
          <a:solidFill>
            <a:srgbClr val="7C3AED">
              <a:alpha val="28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554480"/>
            <a:ext cx="3200400" cy="2834640"/>
          </a:xfrm>
          <a:prstGeom prst="ellipse">
            <a:avLst/>
          </a:prstGeom>
          <a:solidFill>
            <a:srgbClr val="0D9488">
              <a:alpha val="28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91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A ∩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(Both)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 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560320" cy="7132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71600"/>
            <a:ext cx="73152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3990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∪ 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Union — all elements in A or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176272"/>
            <a:ext cx="2560320" cy="7132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176272"/>
            <a:ext cx="7315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2037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∩ 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5420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Intersection — elements in both A and 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980944"/>
            <a:ext cx="2560320" cy="7132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980944"/>
            <a:ext cx="73152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00837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− 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3467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Difference — in A but not in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3785616"/>
            <a:ext cx="2560320" cy="713232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785616"/>
            <a:ext cx="73152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8130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A'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415137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</a:rPr>
              <a:t>Complement — everything NOT in A (within U)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🎯  Fun Fact: Venn diagrams were introduced by John Venn in 1880 and are now used in logic, statistics, probability AND social media marketing!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06  Set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A = {1, 2, 3, 4, 5}    B = {3, 4, 5, 6, 7}    U = {1, 2, 3, 4, 5, 6, 7, 8, 9, 10}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206240" cy="16916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4206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Union  A ∪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ALL elements from BOTH sets (no duplicates)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∪ B = {1, 2, 3, 4, 5, 6, 7}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D6FE"/>
                </a:solidFill>
              </a:rPr>
              <a:t>💡 Think: OR — in A OR in 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4206240" cy="16916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0040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Intersection  A ∩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ONLY elements that appear in BOTH sets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∩ B = {3, 4, 5}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D6FE"/>
                </a:solidFill>
              </a:rPr>
              <a:t>💡 Think: AND — in A AND in 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4206240" cy="169164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4206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✂️  Difference  A −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Elements in A but NOT in 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6048" y="22677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− B = {1, 2}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D6FE"/>
                </a:solidFill>
              </a:rPr>
              <a:t>💡 Think: ONLY A — remove shared ones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4206240" cy="169164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200400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🚫  Complement  A'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Everything in U that is NOT in 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6048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A' = {6, 7, 8, 9, 10}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D6FE"/>
                </a:solidFill>
              </a:rPr>
              <a:t>💡 Think: NOT A — what's left over?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📐  Key Formula: n(A ∪ B) = n(A) + n(B) − n(A ∩ B)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 Universal Set &amp; Interesting Facts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46304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Universal Set  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set containing ALL objects under consideration for a particular discussion. Every other set is a subset of 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Important Properties: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4114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926080"/>
            <a:ext cx="64008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∪ A' = U    (A plus its complement = Universe)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01568"/>
            <a:ext cx="4114800" cy="4114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401568"/>
            <a:ext cx="64008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401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∩ A' = ∅    (A and its complement share nothing)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77056"/>
            <a:ext cx="4114800" cy="4114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77056"/>
            <a:ext cx="64008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8770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∅ ⊆ A ⊆ U    (Empty set to Universal set)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52544"/>
            <a:ext cx="4114800" cy="41148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352544"/>
            <a:ext cx="64008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3525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(A')' = A      (Complement of complement = 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115568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Infinite Infinities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1371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Cantor proved there are DIFFERENT sizes of infinity! The infinity of real numbers is bigger than the infinity of whole numbers.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487168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871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Sets in 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743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Python, Java, and most languages have built-in Set data structures — used for removing duplicates and fast lookups!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3858768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858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7784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Sets &amp; Probability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4114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Probability theory is entirely built on Set Theory. Sample spaces, events, and outcomes are all sets!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08  Applications of 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D6FE"/>
                </a:solidFill>
              </a:rPr>
              <a:t>Sets appear everywhere — from databases to social media!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82880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🗄️  Databases (SQL)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JOIN, UNION, INTERSECT operations are literally Set operations on tables of data!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18288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🔍  Search Engines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17830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Search results use Set intersections — AND, OR, NOT are ∩, ∪, and complement!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743200" cy="182880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234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🎰  Probability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17830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Events in probability are sets. P(A∪B) = P(A)+P(B)−P(A∩B)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71800"/>
            <a:ext cx="2743200" cy="502920"/>
          </a:xfrm>
          <a:prstGeom prst="rect">
            <a:avLst/>
          </a:prstGeom>
          <a:solidFill>
            <a:srgbClr val="EC489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71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🧠  AI &amp; Logic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352044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Boolean logic, truth tables, and classifiers all rely on Set concepts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971800"/>
            <a:ext cx="2743200" cy="50292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2971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📱  Social Networks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55848" y="352044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Friend recommendations use Set intersection — 'people you may know'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743200" cy="1828800"/>
          </a:xfrm>
          <a:prstGeom prst="rect">
            <a:avLst/>
          </a:prstGeom>
          <a:solidFill>
            <a:srgbClr val="6D28D9">
              <a:alpha val="18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971800"/>
            <a:ext cx="2743200" cy="502920"/>
          </a:xfrm>
          <a:prstGeom prst="rect">
            <a:avLst/>
          </a:prstGeom>
          <a:solidFill>
            <a:srgbClr val="6D28D9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2971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🎮  Game Development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27648" y="352044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Collision detection, game object grouping, and level design use sets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68172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🌍  "Set Theory is the foundation of all mathematics" — Paul Halmos, Mathematician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Section B — Q1: Three-Set Survey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Survey Data (150 students)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420624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8988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Music (M):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3898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45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114800" cy="420624"/>
          </a:xfrm>
          <a:prstGeom prst="rect">
            <a:avLst/>
          </a:prstGeom>
          <a:solidFill>
            <a:srgbClr val="6D28D9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Drama (D):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50 students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4114800" cy="420624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6771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Art (A):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26771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60 students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4114800" cy="420624"/>
          </a:xfrm>
          <a:prstGeom prst="rect">
            <a:avLst/>
          </a:prstGeom>
          <a:solidFill>
            <a:srgbClr val="6D28D9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066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M ∩ D: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7066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15 students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45536"/>
            <a:ext cx="4114800" cy="420624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4553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M ∩ A: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1455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20 students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114800" cy="420624"/>
          </a:xfrm>
          <a:prstGeom prst="rect">
            <a:avLst/>
          </a:prstGeom>
          <a:solidFill>
            <a:srgbClr val="6D28D9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844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D ∩ A: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358444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18 students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4114800" cy="420624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233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</a:rPr>
              <a:t>M ∩ D ∩ A: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40233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8 students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86868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868680"/>
            <a:ext cx="4297680" cy="4114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 Venn Diagram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371600"/>
            <a:ext cx="2286000" cy="2011680"/>
          </a:xfrm>
          <a:prstGeom prst="ellipse">
            <a:avLst/>
          </a:prstGeom>
          <a:solidFill>
            <a:srgbClr val="7C3AED">
              <a:alpha val="2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1371600"/>
            <a:ext cx="2286000" cy="2011680"/>
          </a:xfrm>
          <a:prstGeom prst="ellipse">
            <a:avLst/>
          </a:prstGeom>
          <a:solidFill>
            <a:srgbClr val="0D9488">
              <a:alpha val="2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2103120"/>
            <a:ext cx="2286000" cy="1828800"/>
          </a:xfrm>
          <a:prstGeom prst="ellipse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44475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06640" y="14447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2648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0" y="1965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18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1965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25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87568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9240" y="3017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3017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35040" y="3520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30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 None of 3 = 150 − (18+25+30+7+12+10+8) = 150 − 110 = 40    (ii) Music only = 18    (iii) M∩D only = 7    (iv) D∩A only =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B — Q2: Special Set Puzzles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{1,3,5,7}   H = {{1},{3},{5},{7}}   I = G ∪ {8}   J = G ∪ {∅}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694944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91440" cy="6949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i.  Is { } = {∅}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3533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NO! { } is the empty set (0 elements). {∅} contains the empty set as an element (1 element). They are NOT equal!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69494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84832"/>
            <a:ext cx="91440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12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ii. Subset truths: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11226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∅ ⊆ G ✓  |  ∅ ⊆ H ✓  |  {1} ⊆ G ✓  |  {1} ⊆ H 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{1} is in G, but H contains {1} as an element — not {1} itself!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8412480" cy="694944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43784"/>
            <a:ext cx="91440" cy="69494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71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iii. H ∪ I  and  H ∪ J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87121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{1,3,5,7,8}  →  H ∪ I = {{1},{3},{5},{7},1,3,5,7,8}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{1,3,5,7,∅}  →  H ∪ J = {{1},{3},{5},{7},1,3,5,7,∅}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8412480" cy="694944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02736"/>
            <a:ext cx="9144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30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iv. G ∩ H =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6301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{1,3,5,7}  — elements are numbers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{{1},{3},{5},{7}} — elements are sets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 ∩ H = ∅  (no common elements!)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8412480" cy="694944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361688"/>
            <a:ext cx="91440" cy="69494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v. Set Differences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∖ G = {{1},{3},{5},{7}} (H elements not in 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∖ G = {8}  (I = G∪{8}, so only 8 is new)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∖ G = {∅}  (J = G∪{∅}, so only ∅ is new)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B — Q3: Set Formula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Given:  n(A) = 10,  n(B) = 25,  n(A ∪ B) = 12.  Find: n(A ∩ 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</a:rPr>
              <a:t>Step-by-Step Solution: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914400" cy="402336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Recall the formula: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n(A ∪ B) = n(A) + n(B) − n(A ∩ 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90088"/>
            <a:ext cx="914400" cy="402336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00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9443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Rearrange for n(A ∩ B):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944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n(A ∩ B) = n(A) + n(B) − n(A ∪ B)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229600" cy="5029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57016"/>
            <a:ext cx="914400" cy="402336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5701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51129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Substitute values: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5112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n(A ∩ B) = 10 + 25 − 12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8229600" cy="50292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23944"/>
            <a:ext cx="914400" cy="402336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239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Answer 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40782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Calculate: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0782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n(A ∩ B) = 23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63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 Note: n(A ∪ B) = 12 &lt; n(A) = 10 + n(B) = 25 makes sense since A and B share 23 elements. Verify: 10+25−23 = 12 ✓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🧠  Practice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D6FE"/>
                </a:solidFill>
              </a:rPr>
              <a:t>Test your understanding!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8580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07592"/>
            <a:ext cx="594360" cy="530352"/>
          </a:xfrm>
          <a:prstGeom prst="roundRect">
            <a:avLst>
              <a:gd name="adj" fmla="val 86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3716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If A = {2,4,6,8} and B = {1,2,3,4}, find A∪B, A∩B, and A−B.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8412480" cy="68580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66544"/>
            <a:ext cx="59436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66544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213055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1305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Formula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If n(A)=15, n(B)=20, and n(A∩B)=8, find n(A∪B) using the formula.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752344"/>
            <a:ext cx="8412480" cy="68580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25496"/>
            <a:ext cx="594360" cy="530352"/>
          </a:xfrm>
          <a:prstGeom prst="roundRect">
            <a:avLst>
              <a:gd name="adj" fmla="val 862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25496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288950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8895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Tricky!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81635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Is {∅} a subset of every set? Is {} = {∅}? Explain your reasoning.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511296"/>
            <a:ext cx="8412480" cy="685800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84448"/>
            <a:ext cx="594360" cy="530352"/>
          </a:xfrm>
          <a:prstGeom prst="roundRect">
            <a:avLst>
              <a:gd name="adj" fmla="val 86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84448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0" y="3648456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6484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Venn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57530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Draw a Venn diagram for: U={1..10}, A={1,2,3,4,5}, B={4,5,6,7}. Shade A'∩B.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270248"/>
            <a:ext cx="8412480" cy="685800"/>
          </a:xfrm>
          <a:prstGeom prst="rect">
            <a:avLst/>
          </a:prstGeom>
          <a:solidFill>
            <a:srgbClr val="EC4899">
              <a:alpha val="13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343400"/>
            <a:ext cx="594360" cy="530352"/>
          </a:xfrm>
          <a:prstGeom prst="roundRect">
            <a:avLst>
              <a:gd name="adj" fmla="val 8621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43400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32320" y="440740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44074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Word Problem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433425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 class has 30 students. 15 like Math, 12 like Science, 5 like both. How many like neither?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D6FE"/>
                </a:solidFill>
              </a:rPr>
              <a:t>What we covered today: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Definition &amp; Notation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98448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Sets, elements, { }, ∈, 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97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Types of Sets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2990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Finite, Infinite, Empty, Singleton, Equal, Equivalent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840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Subsets &amp; Supersets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⊆, ⊂, ⊇ — proper and improper subsets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1371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554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79008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Venn Diagrams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79008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 representation of sets and their relations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2697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79008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Set Operations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79008" y="2990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Union ∪, Intersection ∩, Difference −, Complement 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657600"/>
            <a:ext cx="4206240" cy="100584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47488" y="3840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047488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79008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Formula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779008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n(A∪B) = n(A) + n(B) − n(A∩B)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Great work! Questions? Explore sets in your world — they're everywhere! 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 in Mathematics</dc:title>
  <dc:subject>PptxGenJS Presentation</dc:subject>
  <dc:creator>PptxGenJS</dc:creator>
  <cp:lastModifiedBy>PptxGenJS</cp:lastModifiedBy>
  <cp:revision>1</cp:revision>
  <dcterms:created xsi:type="dcterms:W3CDTF">2026-03-13T03:55:48Z</dcterms:created>
  <dcterms:modified xsi:type="dcterms:W3CDTF">2026-03-13T03:55:48Z</dcterms:modified>
</cp:coreProperties>
</file>