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EF4444">
              <a:alpha val="17000"/>
            </a:srgbClr>
          </a:solidFill>
          <a:ln w="12700">
            <a:solidFill>
              <a:srgbClr val="EF4444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4572000" cy="4572000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FCA5A5">
              <a:alpha val="22000"/>
            </a:srgbClr>
          </a:solidFill>
          <a:ln w="12700">
            <a:solidFill>
              <a:srgbClr val="FCA5A5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0292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02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COMPUTATIONAL MATHEMATICS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Statis-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tics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CA5A5"/>
                </a:solidFill>
              </a:rPr>
              <a:t>Data · Graphs · Mean · Probability · Spread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4612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"There are three kinds of lies: lies, damned lies, and statistics."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— Mark Twain (probably grumpy about maths)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Lecture Series  •  Beginner to Advanced  •  With real data &amp; fun examples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  What IS Statistics? 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120640" cy="1188720"/>
          </a:xfrm>
          <a:prstGeom prst="rect">
            <a:avLst/>
          </a:prstGeom>
          <a:solidFill>
            <a:srgbClr val="1C19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Statistics is the science of: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Collecting  →  Organising  →  Analysing  →  Interpreting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128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</a:rPr>
              <a:t>😂  What Statistics is NOT: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• Magic  • A way to predict your exam grade  • Boring (we promise!)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Two Main Types of Data: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822192"/>
            <a:ext cx="416052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82219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📝  Qualitative (Categorical)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2519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Describes qualities/categories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Ex: Eye colour, pizza toppings, favourite subject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82219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822192"/>
            <a:ext cx="41605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382219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🔢  Quantitative (Numerical)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42519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Measured or counted as numbers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Ex: Height, marks, number of students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868680"/>
            <a:ext cx="3200400" cy="2331720"/>
          </a:xfrm>
          <a:prstGeom prst="rect">
            <a:avLst/>
          </a:prstGeom>
          <a:solidFill>
            <a:srgbClr val="1C191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9144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🎯  Quick Check!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132588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is qualitative?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a) Number of goals scored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b) Team jersey colour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c) Match attendance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d) Final score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2880360"/>
            <a:ext cx="3017520" cy="274320"/>
          </a:xfrm>
          <a:prstGeom prst="roundRect">
            <a:avLst>
              <a:gd name="adj" fmla="val 1666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Answer: b) Jersey colour!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13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01b  Discrete Data in Action 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A5A5"/>
                </a:solidFill>
              </a:rPr>
              <a:t>Discrete data = COUNTABLE values (no decimals!)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Class Test Scores (out of 10) — 15 students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5/10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64592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64592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7/10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64592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64592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8/10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164592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64592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6/10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164592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64592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9/10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0428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7/10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57400" y="2304288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230428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10/10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2304288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30428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6/10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2304288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30428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8/10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0" y="2304288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230428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7/10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962656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6265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5/10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57400" y="2962656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96265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12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9/10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2962656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96265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13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6/10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40680" y="2962656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296265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14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8/10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32320" y="2962656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2962656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15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7/10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834640"/>
            <a:ext cx="320040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8346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Frequency Table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264408"/>
            <a:ext cx="3200400" cy="256032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2644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08760" y="32644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560320" y="32644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3538728"/>
            <a:ext cx="3200400" cy="256032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538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508760" y="3538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560320" y="3538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3813048"/>
            <a:ext cx="3200400" cy="25603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813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508760" y="3813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560320" y="3813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|||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65760" y="4087368"/>
            <a:ext cx="3200400" cy="256032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0873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508760" y="40873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2560320" y="40873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||||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4361688"/>
            <a:ext cx="3200400" cy="25603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361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508760" y="4361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560320" y="4361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|||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5760" y="4636008"/>
            <a:ext cx="3200400" cy="256032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46360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508760" y="46360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560320" y="46360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65760" y="4910328"/>
            <a:ext cx="3200400" cy="256032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910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508760" y="4910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2560320" y="4910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749040" y="2834640"/>
            <a:ext cx="5029200" cy="1938528"/>
          </a:xfrm>
          <a:prstGeom prst="roundRect">
            <a:avLst>
              <a:gd name="adj" fmla="val 3774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3192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😄  Fun Data Facts: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931920" y="32918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The word 'Statistics' comes from the Latin 'statisticum' — meaning 'of the state' (governments used it for census data!)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Most common score = 7 (that's the MODE)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Discrete data cannot be 7.5 — you can't score half a mark! 😅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1" name="Text 6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Key: 🟢 Score 8-10  🟡 Score 6-7  🔴 Score 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Organising Data — Charts &amp; Graphs 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4251960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8961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Bar Chart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When to use: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Comparing categories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F4444"/>
                </a:solidFill>
              </a:rPr>
              <a:t>Example: Favourite subjects in class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64608" y="89611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896112"/>
            <a:ext cx="425196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8961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🥧  Pie Chart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01768" y="14173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When to use: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Showing proportions (parts of whole)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1768" y="203911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Example: % of students in each grade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16352"/>
            <a:ext cx="4251960" cy="47548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81635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📈  Histogram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When to use: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Frequency of grouped numerical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5935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BBF24"/>
                </a:solidFill>
              </a:rPr>
              <a:t>Example: Distribution of exam marks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64608" y="281635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816352"/>
            <a:ext cx="425196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281635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📉  Line Graph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01768" y="33375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When to use: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</a:rPr>
              <a:t>Showing trends over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395935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Example: Monthly rainfall changes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645152"/>
            <a:ext cx="850392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4515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</a:rPr>
              <a:t>🧠  Memory Trick: 'Bar for Buckets, Pie for Percentages, Histogram for Heights, Line for Lonely Trends'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🎉  QUICK POLL — Let's Collect Some Data!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CA5A5"/>
                </a:solidFill>
              </a:rPr>
              <a:t>Ask your classmates and tally the results below! 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105156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91440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6245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🍕  Favourite food?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288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Pizza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32888" y="182880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8288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98848" y="182880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8288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Noodles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64808" y="182880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18288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Roti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18562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</a:rPr>
              <a:t>Tally: ____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8412480" cy="1051560"/>
          </a:xfrm>
          <a:prstGeom prst="rect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14600"/>
            <a:ext cx="91440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55117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😴  Hours of sleep last night?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01752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17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&lt; 5 hrs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32888" y="301752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32888" y="3017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5-6 hrs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98848" y="301752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017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7-8 hrs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64808" y="301752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30175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8+ hrs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30449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</a:rPr>
              <a:t>Tally: ____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703320"/>
            <a:ext cx="8412480" cy="1051560"/>
          </a:xfrm>
          <a:prstGeom prst="rect">
            <a:avLst/>
          </a:prstGeom>
          <a:solidFill>
            <a:srgbClr val="FBBF24">
              <a:alpha val="13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703320"/>
            <a:ext cx="91440" cy="1051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73989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How many hours on phone today?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" y="42062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2062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0-1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32888" y="42062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32888" y="42062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2-3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98848" y="42062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42062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4-5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64808" y="42062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42062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6+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42336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</a:rPr>
              <a:t>Tally: ____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💡  This IS statistics! You just collected, organised and will soon analyse your own dataset!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Measures of Central Tendency 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Dataset:  4, 7, 7, 8, 9, 7, 5, 10, 6, 7   (Class of 10 students)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1645920" cy="1133856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98448"/>
            <a:ext cx="16459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⚖️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MEAN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84832" y="13441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</a:rPr>
              <a:t>The Average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84832" y="16824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</a:rPr>
              <a:t>Sum of all values ÷ Number of values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84832" y="20116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(4+7+7+8+9+7+5+10+6+7) ÷ 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70 ÷ 10 = 7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138988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3898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= 7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0640" y="189280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</a:rPr>
              <a:t>When: Use when data has no extreme outliers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16712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</a:rPr>
              <a:t>Think of it as sharing pizza equally 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23744"/>
            <a:ext cx="85039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23744"/>
            <a:ext cx="1645920" cy="1133856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523744"/>
            <a:ext cx="16459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🎪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MEDIAN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84832" y="256946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</a:rPr>
              <a:t>The Middle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084832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</a:rPr>
              <a:t>Middle value when data is SORTED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84832" y="32369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Sorted: 4,5,6,7,7,7,8,9,10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 = (7+7)/2 = 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20640" y="261518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6151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 = 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20640" y="311810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</a:rPr>
              <a:t>When: Use when there are extreme values/outliers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39242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</a:rPr>
              <a:t>Like the middle seat in a row — nobody wants it 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85039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49040"/>
            <a:ext cx="1645920" cy="1133856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749040"/>
            <a:ext cx="164592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MODE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084832" y="37947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</a:rPr>
              <a:t>The Most Popular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084832" y="41330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716C"/>
                </a:solidFill>
              </a:rPr>
              <a:t>Most frequently occurring value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84832" y="44622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appears 4 times — more than any other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120640" y="38404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= 7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120640" y="43434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</a:rPr>
              <a:t>When: Use for categorical data or finding popularity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461772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</a:rPr>
              <a:t>The 'cool kid' of the dataset — appears the most! 😎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🧠  Quick Quiz — Mean, Median or Mode?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731520"/>
          </a:xfrm>
          <a:prstGeom prst="rect">
            <a:avLst/>
          </a:prstGeom>
          <a:solidFill>
            <a:srgbClr val="FBBF24">
              <a:alpha val="13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96112"/>
            <a:ext cx="91440" cy="731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 The most popular shoe size sold at a store?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0" y="950976"/>
            <a:ext cx="2971800" cy="566928"/>
          </a:xfrm>
          <a:prstGeom prst="roundRect">
            <a:avLst>
              <a:gd name="adj" fmla="val 8065"/>
            </a:avLst>
          </a:prstGeom>
          <a:solidFill>
            <a:srgbClr val="FBBF24">
              <a:alpha val="7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98755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 MODE — we want the most common!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700784"/>
            <a:ext cx="8412480" cy="731520"/>
          </a:xfrm>
          <a:prstGeom prst="rect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00784"/>
            <a:ext cx="9144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465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 Average temperature over a week: 22,24,21,23,25,22,24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1755648"/>
            <a:ext cx="2971800" cy="566928"/>
          </a:xfrm>
          <a:prstGeom prst="roundRect">
            <a:avLst>
              <a:gd name="adj" fmla="val 8065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79222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 MEAN = (22+24+21+23+25+22+24)/7 = 161/7 = 23°C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8412480" cy="73152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05456"/>
            <a:ext cx="9144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5511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 A footballer earns $100M, rest of team earns $50k. Best measure of 'typical' salary?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15000" y="2560320"/>
            <a:ext cx="2971800" cy="566928"/>
          </a:xfrm>
          <a:prstGeom prst="roundRect">
            <a:avLst>
              <a:gd name="adj" fmla="val 8065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59689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 MEDIAN — not affected by the $100M outlier!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10128"/>
            <a:ext cx="8412480" cy="73152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10128"/>
            <a:ext cx="9144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558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 Ages: 12, 14, 13, 15, 14, 12, 14. Which has the highest frequency?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15000" y="3364992"/>
            <a:ext cx="2971800" cy="566928"/>
          </a:xfrm>
          <a:prstGeom prst="roundRect">
            <a:avLst>
              <a:gd name="adj" fmla="val 8065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40156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 MODE = 14 (appears 3 times)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731520"/>
          </a:xfrm>
          <a:prstGeom prst="rect">
            <a:avLst/>
          </a:prstGeom>
          <a:solidFill>
            <a:srgbClr val="DC2626">
              <a:alpha val="13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14800"/>
            <a:ext cx="9144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160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  Exam scores: 45, 50, 55, 60, 90. Which measure is most misleading?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0" y="4169664"/>
            <a:ext cx="2971800" cy="566928"/>
          </a:xfrm>
          <a:prstGeom prst="roundRect">
            <a:avLst>
              <a:gd name="adj" fmla="val 8065"/>
            </a:avLst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4206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✅  MEAN = 60 — pulled up by the 90 outlier! Median (55) is better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😂  Fun Fact: Bill Gates walks into a bar. The average income in the room becomes a billion dollars. The median barely changes!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Measures of Dispersion (Spread) 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</a:rPr>
              <a:t>How SPREAD OUT is the data? Are values clustered or scattered?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A5A5"/>
                </a:solidFill>
              </a:rPr>
              <a:t>RANGE — the simplest measure of spread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8503920" cy="804672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 = Maximum value − Minimum value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Dataset: {4,7,7,8,9,7,5,10,6,7}  →  Range = 10 − 4 = 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Limitation: Ignores all middle values! One extreme number ruins it. 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78608"/>
            <a:ext cx="8503920" cy="38404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786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A5A5"/>
                </a:solidFill>
              </a:rPr>
              <a:t>STANDARD DEVIATION (σ) — the powerful measure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0040" y="3035808"/>
            <a:ext cx="8503920" cy="310896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3072384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07238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3035808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the Mean  →  x̄ = 70/10 = 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74136"/>
            <a:ext cx="8503920" cy="310896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410712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41071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33741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each (value − mean)²  →  (4-7)²=9, (7-7)²=0, (10-7)²=9 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8503920" cy="310896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749040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7490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3712464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all (value − mean)²  →  9+0+0+1+4+0+4+9+1+0 = 28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50792"/>
            <a:ext cx="8503920" cy="310896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4087368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08736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34440" y="4050792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 by n (population) or n-1 (sample)  →  28/10 = 2.8  (Variance)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389120"/>
            <a:ext cx="8503920" cy="310896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4425696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42569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34440" y="438912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√Variance  →  √2.8 ≈ 1.67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70916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</a:rPr>
              <a:t>📌  Low σ = data clustered around mean (consistent)  |  High σ = data spread wide (variable)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04b  Variance vs Standard Deviation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77640" cy="393192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977640" cy="438912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📌  Class A — Low Spread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Scores: 7, 7, 8, 7, 8, 7, 8, 7, 8, 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= 7.4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 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 = 0.24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Dev (σ) = 0.49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9718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9304" y="26517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36776" y="29718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4248" y="26517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29718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9192" y="26517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26664" y="29718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74136" y="26517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21608" y="29718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</a:rPr>
              <a:t>↑ Tightly clustered! Consistent performance.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822192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5876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Interpretation: Students perform very consistently. Teacher is doing great! 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914400"/>
            <a:ext cx="4206240" cy="3931920"/>
          </a:xfrm>
          <a:prstGeom prst="rect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914400"/>
            <a:ext cx="4206240" cy="438912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9144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📌  Class B — High Spread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09160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Scores: 3, 10, 2, 9, 4, 10, 1, 9, 3, 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181051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= 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 = 9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 = 11.2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Dev (σ) = 3.35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35204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7488" y="22402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31536" y="370332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15584" y="24231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33375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22402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67728" y="38862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51776" y="24231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35824" y="35204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19872" y="242316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246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</a:rPr>
              <a:t>↑ All over the place! Very inconsistent.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822192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8587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Interpretation: Some students excel, some struggle. Needs investigation! 🔍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05  Probability Basics 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03520" cy="960120"/>
          </a:xfrm>
          <a:prstGeom prst="rect">
            <a:avLst/>
          </a:prstGeom>
          <a:solidFill>
            <a:srgbClr val="1C19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Probability = How likely an event is to happen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P(Event) = Number of favourable outcomes ÷ Total outcomes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The Probability Scale: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8412480" cy="41148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" y="2395728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9572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27889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Impossible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04872" y="239572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39572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27889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Unlikely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6552" y="2395728"/>
            <a:ext cx="320040" cy="3200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39572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27889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</a:rPr>
              <a:t>Even Chance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28232" y="2395728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39572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0.75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7889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Likely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39912" y="239572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39572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27889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Certain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2560320"/>
            <a:ext cx="8138160" cy="0"/>
          </a:xfrm>
          <a:prstGeom prst="line">
            <a:avLst/>
          </a:prstGeom>
          <a:noFill/>
          <a:ln w="19050">
            <a:solidFill>
              <a:srgbClr val="787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Real-Life Examples: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675888"/>
            <a:ext cx="4251960" cy="50292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75888"/>
            <a:ext cx="73152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36758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🪙  Coin flip — Heads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08960" y="36758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1/2 = 0.5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64608" y="3675888"/>
            <a:ext cx="4251960" cy="5029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3675888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6758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🎲  Rolling a 6 on a die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07808" y="36758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1/6 ≈ 0.17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270248"/>
            <a:ext cx="4251960" cy="502920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270248"/>
            <a:ext cx="73152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4270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🃏  Picking Ace from 52 cards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108960" y="427024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4/52 = 1/13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64608" y="4270248"/>
            <a:ext cx="4251960" cy="502920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64608" y="4270248"/>
            <a:ext cx="73152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42702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</a:rPr>
              <a:t>🌧️  Rain on a random day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607808" y="427024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 on data!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97880" y="86868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91440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1917"/>
                </a:solidFill>
              </a:rPr>
              <a:t>😂  Fun Fact: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1C1917"/>
                </a:solidFill>
              </a:rPr>
              <a:t>The probability of winning the lottery is less than getting struck by lightning TWICE!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05b  Independent &amp; Dependent Events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93192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45720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🔓  INDEPENDENT Events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</a:rPr>
              <a:t>One event does NOT affect the other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and B) = P(A) × P(B)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 a coin AND roll a die.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P(Heads) = 1/2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P(Rolling 4) = 1/6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P(Heads AND 4) = 1/2 × 1/6 = 1/12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</a:rPr>
              <a:t>😄  Imagine: Whether you ate breakfast has zero effect on what card you pick!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914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🔗  DEPENDENT Events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1444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One event DOES affect the other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P(A then B) = P(A) × P(B|A)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2304288"/>
            <a:ext cx="3749040" cy="1463040"/>
          </a:xfrm>
          <a:prstGeom prst="roundRect">
            <a:avLst>
              <a:gd name="adj" fmla="val 3750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37744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Bag: 3 red, 2 blue. Draw 2 WITHOUT replacement.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P(1st red) = 3/5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P(2nd red | 1st was red) = 2/4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P(Both red) = 3/5 × 2/4 = 6/20 = 3/10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840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</a:rPr>
              <a:t>🎯  Key: 'Without replacement' = dependent! 'With replacement' = independent!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06  Accuracy &amp; Precision 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</a:rPr>
              <a:t>They sound the same but they are VERY different! 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605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41605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How CLOSE to the TRUE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a measurement is.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True height = 170 cm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Measured: 169, 171, 170, 170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ACCURATE (close to 170)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1783080"/>
            <a:ext cx="1143000" cy="1143000"/>
          </a:xfrm>
          <a:prstGeom prst="ellipse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965960"/>
            <a:ext cx="777240" cy="777240"/>
          </a:xfrm>
          <a:prstGeom prst="ellipse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10312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221284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61872"/>
            <a:ext cx="41605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61872"/>
            <a:ext cx="41605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📐  PRECISION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783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How CONSISTENT measurements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</a:rPr>
              <a:t>are with each other.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39572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True height = 170 cm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Measured: 165, 165, 165, 165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PRECISE (consistent) but NOT accurate!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52360" y="1783080"/>
            <a:ext cx="1143000" cy="114300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965960"/>
            <a:ext cx="777240" cy="777240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20574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54112" y="19659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2672" y="192024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201168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547872"/>
            <a:ext cx="8503920" cy="36576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47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 |  Accurate?  |  Precise?  |  Result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950208"/>
            <a:ext cx="8503920" cy="18288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3950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</a:rPr>
              <a:t>Hits bullseye consistently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60520" y="39502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YES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49240" y="39502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YES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39502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</a:rPr>
              <a:t>Ideal! 🌟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151376"/>
            <a:ext cx="8503920" cy="182880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4151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</a:rPr>
              <a:t>Scattered near bullseye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60520" y="41513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YES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49240" y="41513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NO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37960" y="415137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</a:rPr>
              <a:t>OK but inconsistent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352544"/>
            <a:ext cx="8503920" cy="18288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" y="43525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</a:rPr>
              <a:t>Consistent but off-centre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60520" y="4352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NO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49240" y="43525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YES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37960" y="43525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</a:rPr>
              <a:t>Precise but biased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553712"/>
            <a:ext cx="8503920" cy="182880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" y="45537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</a:rPr>
              <a:t>Scattered and off-centre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160520" y="45537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NO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49240" y="45537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NO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37960" y="45537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917"/>
                </a:solidFill>
              </a:rPr>
              <a:t>Useless! 😱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Section F — Q1 &amp; Q2: Probability MCQs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304288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438912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686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  In the word 'BANANA', what letter is most likely picked at random?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- A - N - A - N - 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1645920" cy="1078992"/>
          </a:xfrm>
          <a:prstGeom prst="roundRect">
            <a:avLst>
              <a:gd name="adj" fmla="val 5085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Count: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1/6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938528"/>
            <a:ext cx="1645920" cy="1078992"/>
          </a:xfrm>
          <a:prstGeom prst="roundRect">
            <a:avLst>
              <a:gd name="adj" fmla="val 5085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938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⭐ ANSWER!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1488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31720" y="24871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Count: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3/6 = 1/2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1938528"/>
            <a:ext cx="1645920" cy="1078992"/>
          </a:xfrm>
          <a:prstGeom prst="roundRect">
            <a:avLst>
              <a:gd name="adj" fmla="val 5085"/>
            </a:avLst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1488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60520" y="24871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Count: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2/6 = 1/3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1417320"/>
            <a:ext cx="2880360" cy="1664208"/>
          </a:xfrm>
          <a:prstGeom prst="roundRect">
            <a:avLst>
              <a:gd name="adj" fmla="val 4396"/>
            </a:avLst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463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Options: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1828800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8716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8288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a) 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2121408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1214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b) A  ⭐ CORRECT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2414016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8716C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414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c) 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0" y="2706624"/>
            <a:ext cx="251460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8716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7066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d) None of above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8412480" cy="1719072"/>
          </a:xfrm>
          <a:prstGeom prst="rect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291840"/>
            <a:ext cx="8412480" cy="438912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291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Q2  From {12, 3, 11, 22, 42, 6, 17, 9} — probability of picking an EVEN number?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3776472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numbers: 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 numbers: 12, 22, 42, 6  →  4 even numbers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P(even) = 4/8 = 1/2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3730752"/>
            <a:ext cx="2286000" cy="1115568"/>
          </a:xfrm>
          <a:prstGeom prst="roundRect">
            <a:avLst>
              <a:gd name="adj" fmla="val 4918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7673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✅  Answer: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1148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P(even) = 1/2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0" y="4498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Option: a) 1/2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Section F — Q3: Drawing an Honor Card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solidFill>
            <a:srgbClr val="1C19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card drawn from 52 cards. Find P(honor card).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Honor cards: A, J, Q, K  |  4 suits  |  4 honor cards per suit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Working it out: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6217920" cy="347472"/>
          </a:xfrm>
          <a:prstGeom prst="rect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1284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Total cards in pack = 52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6217920" cy="347472"/>
          </a:xfrm>
          <a:prstGeom prst="rect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9689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Honor cards per suit: A, J, Q, K = 4 cards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80944"/>
            <a:ext cx="6217920" cy="347472"/>
          </a:xfrm>
          <a:prstGeom prst="rect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80944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Number of suits =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64992"/>
            <a:ext cx="6217920" cy="34747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6499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Total honor cards = 4 suits × 4 = 16 honor cards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6217920" cy="34747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P(honor card) = 16/52 = 4/13 ≈ 0.308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783080"/>
            <a:ext cx="2011680" cy="2578608"/>
          </a:xfrm>
          <a:prstGeom prst="rect">
            <a:avLst/>
          </a:prstGeom>
          <a:solidFill>
            <a:srgbClr val="1C1917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828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Options: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224028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240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⭐ a) 16/52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274320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DC2626">
              <a:alpha val="30000"/>
            </a:srgbClr>
          </a:solidFill>
          <a:ln w="12700">
            <a:solidFill>
              <a:srgbClr val="78716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b) 8/52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324612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DC2626">
              <a:alpha val="30000"/>
            </a:srgbClr>
          </a:solidFill>
          <a:ln w="12700">
            <a:solidFill>
              <a:srgbClr val="78716C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c) 4/52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37490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DC2626">
              <a:alpha val="30000"/>
            </a:srgbClr>
          </a:solidFill>
          <a:ln w="12700">
            <a:solidFill>
              <a:srgbClr val="78716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d) None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06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♠ Spades: A,J,Q,K (4)   ♥ Hearts: A,J,Q,K (4)   ♦ Diamonds: A,J,Q,K (4)   ♣ Clubs: A,J,Q,K (4)   Total = 16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✅  Answer: a) 16/52  =  4/13  ≈  30.8% chance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Section F — Q4: Marble Probability Experiment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1508760"/>
          </a:xfrm>
          <a:prstGeom prst="rect">
            <a:avLst/>
          </a:prstGeom>
          <a:solidFill>
            <a:srgbClr val="292524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</a:rPr>
              <a:t>📋  Experiment Setup: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Container: 500 marbles (red/blue/green/yellow)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Trials: 200 draws WITH replacement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3749040" cy="18288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105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Red  drawn: 70   P = 70/200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749040" cy="18288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116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🔵 Blue  drawn: 50   P = 50/200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3749040" cy="182880"/>
          </a:xfrm>
          <a:prstGeom prst="rect">
            <a:avLst/>
          </a:prstGeom>
          <a:solidFill>
            <a:srgbClr val="16A34A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1284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Green  drawn: 60   P = 60/200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3749040" cy="182880"/>
          </a:xfrm>
          <a:prstGeom prst="rect">
            <a:avLst/>
          </a:prstGeom>
          <a:solidFill>
            <a:srgbClr val="FBBF24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1401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Yellow  drawn: 20   P = 20/200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4206240" cy="877824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822960"/>
            <a:ext cx="420624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8229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i. P(Red marble)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24358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70 / 200  =  7/20  =  0.35  =  35%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792224"/>
            <a:ext cx="4206240" cy="877824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792224"/>
            <a:ext cx="4206240" cy="384048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7922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 ii. P(Green marble)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21284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60 / 200  =  3/10  =  0.30  =  30%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761488"/>
            <a:ext cx="4206240" cy="877824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761488"/>
            <a:ext cx="4206240" cy="384048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7614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🔵🟡  iii. P(Blue OR Yellow)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18211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(50+20) / 200  =  70/200  =  7/20  =  35%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730752"/>
            <a:ext cx="4206240" cy="877824"/>
          </a:xfrm>
          <a:prstGeom prst="rect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3730752"/>
            <a:ext cx="4206240" cy="384048"/>
          </a:xfrm>
          <a:prstGeom prst="rect">
            <a:avLst/>
          </a:prstGeom>
          <a:solidFill>
            <a:srgbClr val="FBBF24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730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❌🟡  iv. P(NOT Yellow)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415137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1 − P(Yellow)  =  1 − 20/200  =  180/200  =  9/10  =  90%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3158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📐  Key: P(A or B) = P(A) + P(B)  [mutually exclusive]   |   P(not A) = 1 − P(A)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🧠  Practice Questions — Statistics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251960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3246120" y="96012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960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Central Tendency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868680"/>
            <a:ext cx="685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Dataset: 5, 8, 3, 9, 7, 8, 6, 4, 8,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Find the Mean, Median, Mode and Range.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18888" y="86868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868680"/>
            <a:ext cx="4251960" cy="4297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44968" y="96012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960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Probability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28616" y="868680"/>
            <a:ext cx="685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56048" y="134416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A bag has 5 red, 3 blue, 2 green balls.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(a) P(red)  (b) P(not blue)  (c) P(green or red)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40280"/>
            <a:ext cx="4251960" cy="429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233172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331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Dispersion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9768" y="2240280"/>
            <a:ext cx="685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271576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The ages of 6 students are: 18, 19, 20, 18, 21, 18.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Calculate the variance and standard deviation.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18888" y="224028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2240280"/>
            <a:ext cx="4251960" cy="42976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744968" y="233172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2331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Independent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28616" y="2240280"/>
            <a:ext cx="685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56048" y="271576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A die is rolled twice. What is the probability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of rolling a 3 both times?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11880"/>
            <a:ext cx="4251960" cy="4297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246120" y="370332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7033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Venn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9768" y="3611880"/>
            <a:ext cx="685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408736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Survey of 30 students: 10 like maths, 12 like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science, 5 like both. Draw a Venn diagram 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find how many like NEITHER subject.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18888" y="361188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18888" y="3611880"/>
            <a:ext cx="4251960" cy="4297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7744968" y="370332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4968" y="37033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Accuracy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28616" y="3611880"/>
            <a:ext cx="685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956048" y="4087368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Temperature readings: 22.1, 22.3, 22.2, 22.1°C.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The true temp is 25°C. Are the readings accurate,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</a:rPr>
              <a:t>precise, both or neither?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645152"/>
            <a:ext cx="8503920" cy="365760"/>
          </a:xfrm>
          <a:prstGeom prst="roundRect">
            <a:avLst>
              <a:gd name="adj" fmla="val 12500"/>
            </a:avLst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4515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</a:rPr>
              <a:t>💡  Remember: Always show your working! A correct answer with no working = half marks. A wrong answer with correct method = still marks! 😊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✅  Answers to Practice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50392"/>
            <a:ext cx="8503920" cy="594360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50392"/>
            <a:ext cx="9144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41832"/>
            <a:ext cx="566928" cy="402336"/>
          </a:xfrm>
          <a:prstGeom prst="roundRect">
            <a:avLst>
              <a:gd name="adj" fmla="val 1136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886968"/>
            <a:ext cx="7543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Sorted: 2,3,4,5,6,7,8,8,8,9  |  Mean=60/10=6  |  Median=(6+7)/2=6.5  |  Mode=8  |  Range=9-2=7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503920" cy="594360"/>
          </a:xfrm>
          <a:prstGeom prst="rect">
            <a:avLst/>
          </a:prstGeom>
          <a:solidFill>
            <a:srgbClr val="DC2626">
              <a:alpha val="13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08760"/>
            <a:ext cx="9144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00200"/>
            <a:ext cx="566928" cy="402336"/>
          </a:xfrm>
          <a:prstGeom prst="roundRect">
            <a:avLst>
              <a:gd name="adj" fmla="val 1136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00200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1545336"/>
            <a:ext cx="7543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Total=10  |  (a) P(red)=5/10=1/2  |  (b) P(not blue)=7/10  |  (c) P(green or red)=7/10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8503920" cy="594360"/>
          </a:xfrm>
          <a:prstGeom prst="rect">
            <a:avLst/>
          </a:prstGeom>
          <a:solidFill>
            <a:srgbClr val="0D9488">
              <a:alpha val="13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67128"/>
            <a:ext cx="9144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258568"/>
            <a:ext cx="566928" cy="402336"/>
          </a:xfrm>
          <a:prstGeom prst="roundRect">
            <a:avLst>
              <a:gd name="adj" fmla="val 1136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58568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2203704"/>
            <a:ext cx="7543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Mean=19  |  Deviations²: 1,0,1,1,4,1  |  Variance=8/6=1.33  |  σ=√1.33≈1.15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25496"/>
            <a:ext cx="8503920" cy="594360"/>
          </a:xfrm>
          <a:prstGeom prst="rect">
            <a:avLst/>
          </a:prstGeom>
          <a:solidFill>
            <a:srgbClr val="FBBF24">
              <a:alpha val="13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25496"/>
            <a:ext cx="91440" cy="594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16936"/>
            <a:ext cx="566928" cy="402336"/>
          </a:xfrm>
          <a:prstGeom prst="roundRect">
            <a:avLst>
              <a:gd name="adj" fmla="val 11364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16936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2862072"/>
            <a:ext cx="7543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 independent  |  P(3 then 3) = 1/6 × 1/6 = 1/36 ≈ 0.028 ≈ 2.8%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83864"/>
            <a:ext cx="8503920" cy="594360"/>
          </a:xfrm>
          <a:prstGeom prst="rect">
            <a:avLst/>
          </a:prstGeom>
          <a:solidFill>
            <a:srgbClr val="16A34A">
              <a:alpha val="13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483864"/>
            <a:ext cx="9144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75304"/>
            <a:ext cx="566928" cy="402336"/>
          </a:xfrm>
          <a:prstGeom prst="roundRect">
            <a:avLst>
              <a:gd name="adj" fmla="val 11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75304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3520440"/>
            <a:ext cx="7543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maths=5, Only science=7, Both=5, Neither=30-5-7-5=13 students like neither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8503920" cy="594360"/>
          </a:xfrm>
          <a:prstGeom prst="rect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42232"/>
            <a:ext cx="9144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233672"/>
            <a:ext cx="566928" cy="402336"/>
          </a:xfrm>
          <a:prstGeom prst="roundRect">
            <a:avLst>
              <a:gd name="adj" fmla="val 1136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33672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70432" y="4178808"/>
            <a:ext cx="7543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Readings are PRECISE (consistent: 22.1-22.3) but NOT accurate (true temp=25°C is far off!)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3158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🌟  'Without data you're just another person with an opinion.' — W. Edwards Deming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DC2626">
              <a:alpha val="18000"/>
            </a:srgbClr>
          </a:solidFill>
          <a:ln w="12700">
            <a:solidFill>
              <a:srgbClr val="DC2626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A5A5"/>
                </a:solidFill>
              </a:rPr>
              <a:t>You have survived Statistics! Here's what you learnt: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206240" cy="987552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</a:rPr>
              <a:t>Intro to Statistics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184708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Types of data: qualitative vs quantitative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4206240" cy="987552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88336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6883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578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</a:rPr>
              <a:t>Organising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296265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Bar charts, pie charts, histograms, line graphs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21024"/>
            <a:ext cx="4206240" cy="987552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803904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8039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6941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</a:rPr>
              <a:t>Central Tendency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80160" y="40782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Mean (average), Median (middle), Mode (most common)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1389888"/>
            <a:ext cx="4206240" cy="987552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01768" y="1572768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001768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</a:rPr>
              <a:t>Dispersion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15000" y="184708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Range, Variance, Standard Deviation (σ)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505456"/>
            <a:ext cx="4206240" cy="987552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01768" y="2688336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001768" y="26883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15000" y="25786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</a:rPr>
              <a:t>Probability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715000" y="296265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P(event) = favourable/total; independent vs dependent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3621024"/>
            <a:ext cx="4206240" cy="987552"/>
          </a:xfrm>
          <a:prstGeom prst="rect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01768" y="3803904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38039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15000" y="36941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</a:rPr>
              <a:t>Accuracy &amp; Precision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715000" y="40782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Close to truth vs consistently repeatable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Great work! Remember: Statistics is just storytelling with numbers. Everyone can do it! 📊❤️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subject>PptxGenJS Presentation</dc:subject>
  <dc:creator>PptxGenJS</dc:creator>
  <cp:lastModifiedBy>PptxGenJS</cp:lastModifiedBy>
  <cp:revision>1</cp:revision>
  <dcterms:created xsi:type="dcterms:W3CDTF">2026-03-13T04:24:51Z</dcterms:created>
  <dcterms:modified xsi:type="dcterms:W3CDTF">2026-03-13T04:24:51Z</dcterms:modified>
</cp:coreProperties>
</file>