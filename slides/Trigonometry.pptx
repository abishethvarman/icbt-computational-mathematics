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097280"/>
            <a:ext cx="2743200" cy="2743200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0292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02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COMPUTATIONAL MATHEMATICS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ED7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Trigono-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metry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ED7AA"/>
                </a:solidFill>
              </a:rPr>
              <a:t>Angles · Ratios · Identities · Equations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F97316"/>
                </a:solidFill>
              </a:rPr>
              <a:t>sin  cos  tan  θ  π  ∠  hyp  adj  opp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Lecture Series  •  Beginner to Advanced  •  with worked examples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 Introduction to Angles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97480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144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Acute Angle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9768" y="14264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0° &lt; θ &lt; 90°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Less than a right angle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69748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9144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Right Angle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10128" y="14264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90°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Exactly 90 degrees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14400"/>
            <a:ext cx="2697480" cy="4389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9144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Obtuse Angle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90488" y="14264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90° &lt; θ &lt; 180°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More than right angle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43200"/>
            <a:ext cx="269748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2743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Straight Angle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9768" y="32552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180°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A straight 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43200"/>
            <a:ext cx="2697480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3310128" y="2743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Reflex Angle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310128" y="32552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180° &lt; θ &lt; 360°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More than straight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7432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743200"/>
            <a:ext cx="2697480" cy="43891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1" name="Text 29"/>
          <p:cNvSpPr/>
          <p:nvPr/>
        </p:nvSpPr>
        <p:spPr>
          <a:xfrm>
            <a:off x="6190488" y="2743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Full Angle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190488" y="32552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360°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90488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Complete revolution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97316">
              <a:alpha val="8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917"/>
                </a:solidFill>
              </a:rPr>
              <a:t>💡  Angles can be measured in Degrees (°) or Radians (rad).  π radians = 180°  |  1° = π/180 radians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  Trigonometric Ratios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D7AA"/>
                </a:solidFill>
              </a:rPr>
              <a:t>SOH − CAH − TOA  (the most important mnemonic in trig!)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0" y="1005840"/>
            <a:ext cx="73152" cy="3200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4133088"/>
            <a:ext cx="219456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1005840"/>
            <a:ext cx="2157984" cy="315468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3931920"/>
            <a:ext cx="201168" cy="201168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20116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D7AA"/>
                </a:solidFill>
              </a:rPr>
              <a:t>Hypotenuse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22860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Opposite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Adjacent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4964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θ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1143000"/>
            <a:ext cx="5989320" cy="1051560"/>
          </a:xfrm>
          <a:prstGeom prst="rect">
            <a:avLst/>
          </a:prstGeom>
          <a:solidFill>
            <a:srgbClr val="F97316">
              <a:alpha val="17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143000"/>
            <a:ext cx="1188720" cy="1051560"/>
          </a:xfrm>
          <a:prstGeom prst="rect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14300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SOH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91640" y="1188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Sine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154533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θ = Opposite / Hypotenuse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5989320" cy="1051560"/>
          </a:xfrm>
          <a:prstGeom prst="rect">
            <a:avLst/>
          </a:prstGeom>
          <a:solidFill>
            <a:srgbClr val="0D9488">
              <a:alpha val="17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31720"/>
            <a:ext cx="1188720" cy="105156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3172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CAH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91640" y="23774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Cosine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273405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 θ = Adjacent / Hypotenuse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5989320" cy="1051560"/>
          </a:xfrm>
          <a:prstGeom prst="rect">
            <a:avLst/>
          </a:prstGeom>
          <a:solidFill>
            <a:srgbClr val="FBBF24">
              <a:alpha val="17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520440"/>
            <a:ext cx="1188720" cy="1051560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52044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TOA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691640" y="35661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Tangent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91640" y="392277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 θ = Opposite / Adjacent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5989320" cy="347472"/>
          </a:xfrm>
          <a:prstGeom prst="roundRect">
            <a:avLst>
              <a:gd name="adj" fmla="val 13158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63440"/>
            <a:ext cx="5806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🎯  Memory trick: 'Some Old Hippos Catch And Hug Their Old Aunts'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 Finding Sides &amp; Angles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4160520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61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🔍  Example 1 — Find the side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Given: θ = 30°, Hypotenuse = 10 cm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Find the Opposite side.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30° = Opposite / 10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Opposite = 10 × sin 30°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Opposite = 10 × 0.5 = 5 cm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896112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96112"/>
            <a:ext cx="41605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961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🔍  Example 2 — Find the angle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00600" y="138988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Given: Opposite = 6, Hypotenuse = 10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Find angle θ.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0600" y="196596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θ = 6/10 = 0.6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sin⁻¹(0.6)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≈ 36.87°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8503920" cy="38404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Inverse Trigonometric Functions — used to FIND ANGLES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2743200" cy="141732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520440"/>
            <a:ext cx="27432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36118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sin⁻¹(x)  =  arcsin(x)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416052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When you know Opp/Hyp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520440"/>
            <a:ext cx="2743200" cy="1417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52044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36118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cos⁻¹(x)  =  arccos(x)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416052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When you know Adj/Hyp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520440"/>
            <a:ext cx="2743200" cy="1417320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520440"/>
            <a:ext cx="2743200" cy="73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6281928" y="36118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tan⁻¹(x)  =  arctan(x)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81928" y="416052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When you know Opp/Adj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📐  Always check: make sure you're using the RIGHT ratio for the sides you KNOW and WANT!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04  The Unit Circle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ED7AA"/>
                </a:solidFill>
              </a:rPr>
              <a:t>A circle of radius 1, centred at the origin — the heart of trigonometry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0" y="777240"/>
            <a:ext cx="3657600" cy="36576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606040"/>
            <a:ext cx="70408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72000" y="640080"/>
            <a:ext cx="0" cy="3931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434840" y="248716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606040"/>
            <a:ext cx="1371600" cy="-118872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600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r =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2377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70448" y="1344168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188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(cos θ, sin θ)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6517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(1,0)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6517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(-1,0)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822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(0,1)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07408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(0,-1)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914400"/>
            <a:ext cx="233172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9144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 |  sin  |  cos  |  tan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344168"/>
            <a:ext cx="2331720" cy="50292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1344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0°   0    1    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1892808"/>
            <a:ext cx="2331720" cy="502920"/>
          </a:xfrm>
          <a:prstGeom prst="rect">
            <a:avLst/>
          </a:prstGeom>
          <a:solidFill>
            <a:srgbClr val="EA580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18928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30°   1/2    √3/2    1/√3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441448"/>
            <a:ext cx="2331720" cy="50292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24414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45°   1/√2    1/√2    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990088"/>
            <a:ext cx="2331720" cy="502920"/>
          </a:xfrm>
          <a:prstGeom prst="rect">
            <a:avLst/>
          </a:prstGeom>
          <a:solidFill>
            <a:srgbClr val="EA580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9900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60°   √3/2    1/2    √3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538728"/>
            <a:ext cx="2331720" cy="50292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5387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90°   1    0    ∞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🌟  Fun Fact: The unit circle was first systematically used by Leonhard Euler in the 18th century — revolutionising mathematics!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Graphs of Trigonometric Functions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109728" cy="1261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68680"/>
            <a:ext cx="2286000" cy="438912"/>
          </a:xfrm>
          <a:prstGeom prst="rect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686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sin(x)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Period: 360° (2π)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344168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Amplitude: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746504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Range: -1 ≤ y ≤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746504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Starts at (0, 0)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0" y="11887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7316"/>
                </a:solidFill>
              </a:rPr>
              <a:t>Wave: up from 0, peaks at 90°=1, back to 0 at 180°, dips to -1 at 270°, back at 360°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1490472"/>
            <a:ext cx="6035040" cy="36576"/>
          </a:xfrm>
          <a:prstGeom prst="rect">
            <a:avLst/>
          </a:prstGeom>
          <a:solidFill>
            <a:srgbClr val="78716C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5270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0°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69080" y="15270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90°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15270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180°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03720" y="15270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270°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15270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360°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240280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40280"/>
            <a:ext cx="109728" cy="12618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240280"/>
            <a:ext cx="2286000" cy="438912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2402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cos(x)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2715768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Period: 360° (2π)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2715768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Amplitude: 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118104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Range: -1 ≤ y ≤ 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118104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Starts at (0, 1)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0" y="25603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Wave: starts at 1, drops to 0 at 90°, dips -1 at 180°, back to 1 at 360°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97480" y="2862072"/>
            <a:ext cx="6035040" cy="36576"/>
          </a:xfrm>
          <a:prstGeom prst="rect">
            <a:avLst/>
          </a:prstGeom>
          <a:solidFill>
            <a:srgbClr val="78716C"/>
          </a:solidFill>
          <a:ln/>
        </p:spPr>
      </p:sp>
      <p:sp>
        <p:nvSpPr>
          <p:cNvPr id="29" name="Text 27"/>
          <p:cNvSpPr/>
          <p:nvPr/>
        </p:nvSpPr>
        <p:spPr>
          <a:xfrm>
            <a:off x="2651760" y="28986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0°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69080" y="28986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90°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28986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180°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03720" y="28986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270°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28986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360°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611880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611880"/>
            <a:ext cx="109728" cy="12618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3611880"/>
            <a:ext cx="2286000" cy="43891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6118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tan(x)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4087368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Period: 180° (π)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4087368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No amplitude limit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4489704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Range: -∞ to +∞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4489704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▸  Asymptotes at 90°, 270°...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43200" y="39319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</a:rPr>
              <a:t>Repeating S-curve with vertical asymptotes every 180°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97480" y="4233672"/>
            <a:ext cx="6035040" cy="36576"/>
          </a:xfrm>
          <a:prstGeom prst="rect">
            <a:avLst/>
          </a:prstGeom>
          <a:solidFill>
            <a:srgbClr val="78716C"/>
          </a:solidFill>
          <a:ln/>
        </p:spPr>
      </p:sp>
      <p:sp>
        <p:nvSpPr>
          <p:cNvPr id="44" name="Text 42"/>
          <p:cNvSpPr/>
          <p:nvPr/>
        </p:nvSpPr>
        <p:spPr>
          <a:xfrm>
            <a:off x="2651760" y="4270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0°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069080" y="4270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90°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0" y="4270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180°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03720" y="4270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270°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21040" y="42702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360°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📊  All trig graphs are PERIODIC — they repeat in regular intervals called the period.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06  Trigonometric Identities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📐  Pythagorean Identities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8412480" cy="676656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89888"/>
            <a:ext cx="91440" cy="6766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26464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sin²θ + cos²θ =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426464"/>
            <a:ext cx="4114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ED7AA"/>
                </a:solidFill>
              </a:rPr>
              <a:t>The MASTER identity — derived from Pythagoras' theorem on the unit circle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8412480" cy="676656"/>
          </a:xfrm>
          <a:prstGeom prst="rect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39696"/>
            <a:ext cx="91440" cy="67665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76272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tan²θ = sec²θ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176272"/>
            <a:ext cx="4114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ED7AA"/>
                </a:solidFill>
              </a:rPr>
              <a:t>Divide the master identity by cos²θ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8412480" cy="676656"/>
          </a:xfrm>
          <a:prstGeom prst="rect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9504"/>
            <a:ext cx="91440" cy="67665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26080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cot²θ = csc²θ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926080"/>
            <a:ext cx="4114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ED7AA"/>
                </a:solidFill>
              </a:rPr>
              <a:t>Divide the master identity by sin²θ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30752"/>
            <a:ext cx="8412480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307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🔁  Reciprocal &amp; Quotient Identities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06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 θ = 1/sin 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420624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4206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 θ = 1/cos 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20624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206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 θ = 1/tan 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12280" y="420624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206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 θ = sin θ / cos θ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  Solving Trigonometric Equations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716C"/>
                </a:solidFill>
              </a:rPr>
              <a:t>Steps: Isolate the trig function → Apply inverse → Check all solutions in given range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8503920" cy="402336"/>
          </a:xfrm>
          <a:prstGeom prst="rect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80160"/>
            <a:ext cx="91440" cy="11155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Solve:  2 sin θ = 1  for 0° ≤ θ ≤ 360°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1.  sin θ = 1/2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88366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2.  θ = sin⁻¹(0.5) = 30°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04825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3.  sin is +ve in Q1 and Q2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4.  θ = 30°  or  θ = 180° − 30° = 150°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1737360"/>
            <a:ext cx="2194560" cy="530352"/>
          </a:xfrm>
          <a:prstGeom prst="roundRect">
            <a:avLst>
              <a:gd name="adj" fmla="val 8621"/>
            </a:avLst>
          </a:prstGeom>
          <a:solidFill>
            <a:srgbClr val="F97316">
              <a:alpha val="8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3736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θ = 30°  or  θ = 150°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14600"/>
            <a:ext cx="8503920" cy="402336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514600"/>
            <a:ext cx="91440" cy="11155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146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Solve:  cos θ = −1/2  for 0° ≤ θ ≤ 360°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95351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1.  Reference angle = cos⁻¹(0.5) = 60°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11810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2.  cos is −ve in Q2 and Q3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28269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3.  θ = 180° − 60° = 120°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44728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4.  θ = 180° + 60° = 240°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2971800"/>
            <a:ext cx="2194560" cy="530352"/>
          </a:xfrm>
          <a:prstGeom prst="roundRect">
            <a:avLst>
              <a:gd name="adj" fmla="val 8621"/>
            </a:avLst>
          </a:prstGeom>
          <a:solidFill>
            <a:srgbClr val="0D9488">
              <a:alpha val="8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9718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θ = 120°  or  θ = 240°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8503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49040"/>
            <a:ext cx="8503920" cy="402336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3749040"/>
            <a:ext cx="91440" cy="11155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490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Solve:  tan θ = 1  for 0° ≤ θ ≤ 360°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18795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1.  θ = tan⁻¹(1) = 45°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35254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2.  tan is +ve in Q1 and Q3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51713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3.  θ = 45°  and  θ = 45° + 180° = 225°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92240" y="4206240"/>
            <a:ext cx="2194560" cy="530352"/>
          </a:xfrm>
          <a:prstGeom prst="roundRect">
            <a:avLst>
              <a:gd name="adj" fmla="val 8621"/>
            </a:avLst>
          </a:prstGeom>
          <a:solidFill>
            <a:srgbClr val="FBBF24">
              <a:alpha val="8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2062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θ = 45°  or  θ = 225°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97316">
              <a:alpha val="8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917"/>
                </a:solidFill>
              </a:rPr>
              <a:t>📌  CAST Rule — which quadrant has +ve values: C(cos), A(all), S(sin), T(tan) — going anti-clockwise from Q4!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Section D — Q1:  Find AB and 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ED7AA"/>
                </a:solidFill>
              </a:rPr>
              <a:t>(√3 = 1.732,  √2 = 1.414)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0" y="804672"/>
            <a:ext cx="3566160" cy="3200400"/>
          </a:xfrm>
          <a:prstGeom prst="rect">
            <a:avLst/>
          </a:prstGeom>
          <a:solidFill>
            <a:srgbClr val="292524"/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0" y="8686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0" cy="182880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154680"/>
            <a:ext cx="1463040" cy="0"/>
          </a:xfrm>
          <a:prstGeom prst="line">
            <a:avLst/>
          </a:prstGeom>
          <a:noFill/>
          <a:ln w="25400">
            <a:solidFill>
              <a:srgbClr val="FED7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325880"/>
            <a:ext cx="1463040" cy="18288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944368"/>
            <a:ext cx="182880" cy="201168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2344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80760" y="309067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0" y="309067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</a:rPr>
              <a:t>BC = 12 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∠ACB = 30°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∠ACD = 45°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16459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1325880"/>
            <a:ext cx="1463040" cy="54864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11704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Finding AB  (using tan 30° with BC = 12 m):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1572768"/>
            <a:ext cx="4754880" cy="15087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627632"/>
            <a:ext cx="45720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 30° = AB / BC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 = BC × tan 30°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 = 12 × (1/√3)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 = 12 / 1.732
</a:t>
            </a:r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 = 6.928 m  ≈  6.93 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" y="3182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Finding AD  (using tan 45° with BC = 12 m):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584448"/>
            <a:ext cx="4754880" cy="135331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39312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 45° = AD / BC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 = BC × tan 45°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 = 12 × 1 = 12 m
</a:t>
            </a:r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 = 12 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AB ≈ 6.93 m   |   ✅  AD = 12 m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Section D — Q2:  Angle of Elevation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120640" y="868680"/>
            <a:ext cx="37490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57800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Diagram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12080" y="4160520"/>
            <a:ext cx="3566160" cy="73152"/>
          </a:xfrm>
          <a:prstGeom prst="rect">
            <a:avLst/>
          </a:prstGeom>
          <a:solidFill>
            <a:srgbClr val="78716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1828800"/>
            <a:ext cx="137160" cy="2331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5532120" y="3703320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41848" y="3931920"/>
            <a:ext cx="0" cy="22860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41848" y="3794760"/>
            <a:ext cx="2615184" cy="0"/>
          </a:xfrm>
          <a:prstGeom prst="line">
            <a:avLst/>
          </a:prstGeom>
          <a:noFill/>
          <a:ln w="12700">
            <a:solidFill>
              <a:srgbClr val="78716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641848" y="3794760"/>
            <a:ext cx="2615184" cy="-196596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520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45°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4206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</a:rPr>
              <a:t>Sarah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</a:rPr>
              <a:t>40 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17190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Tree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0100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h=?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93792" y="38404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1.5m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868680"/>
            <a:ext cx="4572000" cy="38404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8686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📋  Given Information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1298448"/>
            <a:ext cx="4572000" cy="347472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129844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Distance from tree: 40 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1682496"/>
            <a:ext cx="4572000" cy="347472"/>
          </a:xfrm>
          <a:prstGeom prst="rect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68249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Angle of elevation: 45°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2066544"/>
            <a:ext cx="4572000" cy="347472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06654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Eye level height: 1.5 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2450592"/>
            <a:ext cx="4572000" cy="347472"/>
          </a:xfrm>
          <a:prstGeom prst="rect">
            <a:avLst/>
          </a:prstGeom>
          <a:solidFill>
            <a:srgbClr val="EA580C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45059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Find: Total height of tree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Step-by-Step Solution: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4572000" cy="166420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346704"/>
            <a:ext cx="4343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 45° = height above eye / distance
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= height above eye / 40
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above eye = 40 × 1 = 40 m
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height = 40 + 1.5 = 41.5 m
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height = 41.5 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The tree is 41.5 metres tall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Section D — Q3:  Pythagorean Theorem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a² + b² = c²   where c = hypotenuse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78308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206240" cy="420624"/>
          </a:xfrm>
          <a:prstGeom prst="rect">
            <a:avLst/>
          </a:prstGeom>
          <a:solidFill>
            <a:srgbClr val="F97316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i.  Find AC  (AB = 6, BC = 8)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719072"/>
            <a:ext cx="0" cy="1170432"/>
          </a:xfrm>
          <a:prstGeom prst="line">
            <a:avLst/>
          </a:prstGeom>
          <a:noFill/>
          <a:ln w="25400">
            <a:solidFill>
              <a:srgbClr val="FED7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2889504"/>
            <a:ext cx="914400" cy="0"/>
          </a:xfrm>
          <a:prstGeom prst="line">
            <a:avLst/>
          </a:prstGeom>
          <a:noFill/>
          <a:ln w="25400">
            <a:solidFill>
              <a:srgbClr val="FED7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719072"/>
            <a:ext cx="914400" cy="1170432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697480"/>
            <a:ext cx="164592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</a:rPr>
              <a:t>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9077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</a:rPr>
              <a:t>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AC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719072"/>
            <a:ext cx="28346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AC² = 6² + 8² = 36 + 64 =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 = √100 = 10 units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160520" cy="17830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34440"/>
            <a:ext cx="4160520" cy="420624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2344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ii.  Find YZ  (XY = 13, XZ = 5)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70992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YZ² = XY² − XZ²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YZ² = 13² − 5²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YZ² = 169 − 25 = 144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YZ = √144 = 12 units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127248"/>
            <a:ext cx="8503920" cy="1874520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27248"/>
            <a:ext cx="8503920" cy="420624"/>
          </a:xfrm>
          <a:prstGeom prst="rect">
            <a:avLst/>
          </a:prstGeom>
          <a:solidFill>
            <a:srgbClr val="FBBF24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272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iii.  Ladder Problem  (ladder = 5 m, base distance = 3 m from wall, Find height)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3611880"/>
            <a:ext cx="137160" cy="1234440"/>
          </a:xfrm>
          <a:prstGeom prst="rect">
            <a:avLst/>
          </a:prstGeom>
          <a:solidFill>
            <a:srgbClr val="78716C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681728"/>
            <a:ext cx="1691640" cy="73152"/>
          </a:xfrm>
          <a:prstGeom prst="rect">
            <a:avLst/>
          </a:prstGeom>
          <a:solidFill>
            <a:srgbClr val="78716C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4681728"/>
            <a:ext cx="1371600" cy="-109728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977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5m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3m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4069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611880"/>
            <a:ext cx="5303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h² = ladder² − base²
</a:t>
            </a:r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h² = 5² − 3² = 25 − 9 = 16
</a:t>
            </a:r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√16 = 4 metres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AC = 10 u   |   ✅  YZ = 12 u   |   ✅  Ladder height = 4 m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🧠  Practice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25196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987552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9875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Ratios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9144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A right triangle has an angle of 60° and hypotenuse = 14 cm.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Find the opposite side and the adjacent side.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6771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67712"/>
            <a:ext cx="425196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340864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34086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Pythagoras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226771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724912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A ladder 10 m long leans against a wall. The base is 6 m from the wall.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Find: (a) the height it reaches  (b) the angle it makes with the ground.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21024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21024"/>
            <a:ext cx="42519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3694176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69417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Equation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362102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078224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Solve: 2cos θ − √3 = 0  for  0° ≤ θ ≤ 360°.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Give all solutions.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18888" y="91440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914400"/>
            <a:ext cx="4251960" cy="411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790688" y="987552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0688" y="9875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Elevation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28616" y="9144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56048" y="137160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A bird sits on top of a 20 m pole. From a point on the ground, the angle of elevation is 35°.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Find the distance from the point to the base of the pole.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18888" y="226771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2267712"/>
            <a:ext cx="425196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7790688" y="2340864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0688" y="234086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Proof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28616" y="226771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56048" y="2724912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Prove that:  sin²θ + cos²θ = 1  using a right triangle with sides a, b, c.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18888" y="3621024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18888" y="3621024"/>
            <a:ext cx="4251960" cy="4114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6" name="Shape 34"/>
          <p:cNvSpPr/>
          <p:nvPr/>
        </p:nvSpPr>
        <p:spPr>
          <a:xfrm>
            <a:off x="7790688" y="3694176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90688" y="369417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Exact values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28616" y="362102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956048" y="4078224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If sin θ = 3/5 and θ is acute, find cos θ and tan θ (without a calculator).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917"/>
                </a:solidFill>
              </a:rPr>
              <a:t>💡  Show all working — always state the formula, substitute values, then calculate!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✅  Answers to Practice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50392"/>
            <a:ext cx="8503920" cy="594360"/>
          </a:xfrm>
          <a:prstGeom prst="rect">
            <a:avLst/>
          </a:prstGeom>
          <a:solidFill>
            <a:srgbClr val="F97316">
              <a:alpha val="13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50392"/>
            <a:ext cx="9144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41832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41832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877824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 = 14 × sin 60° = 14 × (√3/2) = 7√3 ≈ 12.12 cm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 = 14 × cos 60° = 14 × 0.5 = 7 cm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8503920" cy="594360"/>
          </a:xfrm>
          <a:prstGeom prst="rect">
            <a:avLst/>
          </a:prstGeom>
          <a:solidFill>
            <a:srgbClr val="EA580C">
              <a:alpha val="13000"/>
            </a:srgbClr>
          </a:solidFill>
          <a:ln w="12700">
            <a:solidFill>
              <a:srgbClr val="EA580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08760"/>
            <a:ext cx="91440" cy="594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00200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00200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1536192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 h = √(10²−6²) = √(100−36) = √64 = 8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(b) sin θ = 8/10 → θ = sin⁻¹(0.8) ≈ 53.1°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8503920" cy="594360"/>
          </a:xfrm>
          <a:prstGeom prst="rect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67128"/>
            <a:ext cx="9144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258568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58568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2194560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 θ = √3/2  →  θ = 30° (Q1) and 360°−30° = 330° (Q4)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30° or θ = 330°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25496"/>
            <a:ext cx="8503920" cy="594360"/>
          </a:xfrm>
          <a:prstGeom prst="rect">
            <a:avLst/>
          </a:prstGeom>
          <a:solidFill>
            <a:srgbClr val="FBBF24">
              <a:alpha val="13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25496"/>
            <a:ext cx="91440" cy="594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16936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16936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2852928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 35° = 20 / d  →  d = 20 / tan 35°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20 / 0.7002 ≈ 28.57 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83864"/>
            <a:ext cx="8503920" cy="59436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483864"/>
            <a:ext cx="9144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575304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75304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0432" y="3511296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right triangle: a²+b²=c²  |  sin θ=a/c, cos θ=b/c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sin²θ+cos²θ = a²/c² + b²/c² = (a²+b²)/c² = c²/c² = 1  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42232"/>
            <a:ext cx="8503920" cy="594360"/>
          </a:xfrm>
          <a:prstGeom prst="rect">
            <a:avLst/>
          </a:prstGeom>
          <a:solidFill>
            <a:srgbClr val="6D28D9">
              <a:alpha val="13000"/>
            </a:srgbClr>
          </a:solidFill>
          <a:ln w="12700">
            <a:solidFill>
              <a:srgbClr val="6D28D9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42232"/>
            <a:ext cx="91440" cy="5943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233672"/>
            <a:ext cx="566928" cy="411480"/>
          </a:xfrm>
          <a:prstGeom prst="roundRect">
            <a:avLst>
              <a:gd name="adj" fmla="val 1111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33672"/>
            <a:ext cx="56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70432" y="4169664"/>
            <a:ext cx="7543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θ = 3/5 → opp=3, hyp=5 → adj = √(25−9) =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 θ = 4/5  |  tan θ = 3/4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🌟  Remember: sin, cos, tan are TOOLS — real-world navigation, engineering and architecture all use them every day!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D7AA"/>
                </a:solidFill>
              </a:rPr>
              <a:t>What we covered in this session: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206240" cy="987552"/>
          </a:xfrm>
          <a:prstGeom prst="rect">
            <a:avLst/>
          </a:prstGeom>
          <a:solidFill>
            <a:srgbClr val="F97316">
              <a:alpha val="13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4447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ED7AA"/>
                </a:solidFill>
              </a:rPr>
              <a:t>Introduction to Angles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0160" y="182880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Acute, right, obtuse, straight, reflex, full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4206240" cy="987552"/>
          </a:xfrm>
          <a:prstGeom prst="rect">
            <a:avLst/>
          </a:prstGeom>
          <a:solidFill>
            <a:srgbClr val="F97316">
              <a:alpha val="13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70048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670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ED7AA"/>
                </a:solidFill>
              </a:rPr>
              <a:t>Trig Ratios (SOH CAH TOA)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0160" y="294436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sin, cos, tan — and their inverses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4206240" cy="987552"/>
          </a:xfrm>
          <a:prstGeom prst="rect">
            <a:avLst/>
          </a:prstGeom>
          <a:solidFill>
            <a:srgbClr val="F97316">
              <a:alpha val="13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785616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78561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675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ED7AA"/>
                </a:solidFill>
              </a:rPr>
              <a:t>Finding Sides &amp; Angles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80160" y="405993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Using ratios and inverse functions to solve triangles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1371600"/>
            <a:ext cx="4206240" cy="987552"/>
          </a:xfrm>
          <a:prstGeom prst="rect">
            <a:avLst/>
          </a:prstGeom>
          <a:solidFill>
            <a:srgbClr val="F97316">
              <a:alpha val="13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01768" y="155448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5001768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14447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ED7AA"/>
                </a:solidFill>
              </a:rPr>
              <a:t>The Unit Circle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715000" y="182880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Key angles: 0°, 30°, 45°, 60°, 90° and their exact values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487168"/>
            <a:ext cx="4206240" cy="987552"/>
          </a:xfrm>
          <a:prstGeom prst="rect">
            <a:avLst/>
          </a:prstGeom>
          <a:solidFill>
            <a:srgbClr val="F97316">
              <a:alpha val="13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01768" y="2670048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5001768" y="2670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150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ED7AA"/>
                </a:solidFill>
              </a:rPr>
              <a:t>Graphs of sin, cos, tan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715000" y="294436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Period, amplitude, range, asymptotes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3602736"/>
            <a:ext cx="4206240" cy="987552"/>
          </a:xfrm>
          <a:prstGeom prst="rect">
            <a:avLst/>
          </a:prstGeom>
          <a:solidFill>
            <a:srgbClr val="F97316">
              <a:alpha val="13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01768" y="3785616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378561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15000" y="3675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ED7AA"/>
                </a:solidFill>
              </a:rPr>
              <a:t>Identities &amp; Equations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715000" y="405993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Pythagorean identities and solving trig equations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Well done! Keep practising — trigonometry is the language of waves, structures and the universe! 📐🔥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</dc:title>
  <dc:subject>PptxGenJS Presentation</dc:subject>
  <dc:creator>PptxGenJS</dc:creator>
  <cp:lastModifiedBy>PptxGenJS</cp:lastModifiedBy>
  <cp:revision>1</cp:revision>
  <dcterms:created xsi:type="dcterms:W3CDTF">2026-03-13T04:14:38Z</dcterms:created>
  <dcterms:modified xsi:type="dcterms:W3CDTF">2026-03-13T04:14:38Z</dcterms:modified>
</cp:coreProperties>
</file>